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669280" cy="5079492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Nav2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71907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Graph Analysis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4937760" cy="45720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542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CC"/>
                </a:solidFill>
              </a:rPr>
              <a:t>Full navigation stack extracted from rqt_graph · rosgraph.dot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1188720" cy="1005840"/>
          </a:xfrm>
          <a:prstGeom prst="rect">
            <a:avLst/>
          </a:prstGeom>
          <a:solidFill>
            <a:srgbClr val="1E30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063240"/>
            <a:ext cx="11887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0906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Active Nodes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3063240"/>
            <a:ext cx="1188720" cy="1005840"/>
          </a:xfrm>
          <a:prstGeom prst="rect">
            <a:avLst/>
          </a:prstGeom>
          <a:solidFill>
            <a:srgbClr val="1E30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91640" y="3063240"/>
            <a:ext cx="11887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30906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Topics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3063240"/>
            <a:ext cx="1188720" cy="1005840"/>
          </a:xfrm>
          <a:prstGeom prst="rect">
            <a:avLst/>
          </a:prstGeom>
          <a:solidFill>
            <a:srgbClr val="1E30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17520" y="3063240"/>
            <a:ext cx="11887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30906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017520" y="3566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Action Servers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063240"/>
            <a:ext cx="1188720" cy="1005840"/>
          </a:xfrm>
          <a:prstGeom prst="rect">
            <a:avLst/>
          </a:prstGeom>
          <a:solidFill>
            <a:srgbClr val="1E30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063240"/>
            <a:ext cx="11887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30906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343400" y="3566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Nav2 Servers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64008"/>
            <a:ext cx="3474720" cy="50794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228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KEY NODES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676656"/>
            <a:ext cx="91440" cy="2011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25312" y="62179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/bt_navigator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1024128"/>
            <a:ext cx="9144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925312" y="96926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/planner_server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1371600"/>
            <a:ext cx="9144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1" name="Text 29"/>
          <p:cNvSpPr/>
          <p:nvPr/>
        </p:nvSpPr>
        <p:spPr>
          <a:xfrm>
            <a:off x="5925312" y="131673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/controller_server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1719072"/>
            <a:ext cx="91440" cy="201168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25312" y="166420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/behavior_server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2066544"/>
            <a:ext cx="91440" cy="20116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5" name="Text 33"/>
          <p:cNvSpPr/>
          <p:nvPr/>
        </p:nvSpPr>
        <p:spPr>
          <a:xfrm>
            <a:off x="5925312" y="201168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/slam_toolbox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2414016"/>
            <a:ext cx="91440" cy="201168"/>
          </a:xfrm>
          <a:prstGeom prst="rect">
            <a:avLst/>
          </a:prstGeom>
          <a:solidFill>
            <a:srgbClr val="FF4B6E"/>
          </a:solidFill>
          <a:ln/>
        </p:spPr>
      </p:sp>
      <p:sp>
        <p:nvSpPr>
          <p:cNvPr id="37" name="Text 35"/>
          <p:cNvSpPr/>
          <p:nvPr/>
        </p:nvSpPr>
        <p:spPr>
          <a:xfrm>
            <a:off x="5925312" y="235915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/collision_monitor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2761488"/>
            <a:ext cx="91440" cy="2011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9" name="Text 37"/>
          <p:cNvSpPr/>
          <p:nvPr/>
        </p:nvSpPr>
        <p:spPr>
          <a:xfrm>
            <a:off x="5925312" y="270662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/velocity_smoother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3108960"/>
            <a:ext cx="91440" cy="201168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41" name="Text 39"/>
          <p:cNvSpPr/>
          <p:nvPr/>
        </p:nvSpPr>
        <p:spPr>
          <a:xfrm>
            <a:off x="5925312" y="305409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/docking_server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60720" y="3456432"/>
            <a:ext cx="91440" cy="201168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43" name="Text 41"/>
          <p:cNvSpPr/>
          <p:nvPr/>
        </p:nvSpPr>
        <p:spPr>
          <a:xfrm>
            <a:off x="5925312" y="340156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/route_server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60720" y="3803904"/>
            <a:ext cx="9144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5" name="Text 43"/>
          <p:cNvSpPr/>
          <p:nvPr/>
        </p:nvSpPr>
        <p:spPr>
          <a:xfrm>
            <a:off x="5925312" y="374904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/waypoint_follower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60720" y="4151376"/>
            <a:ext cx="91440" cy="201168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47" name="Text 45"/>
          <p:cNvSpPr/>
          <p:nvPr/>
        </p:nvSpPr>
        <p:spPr>
          <a:xfrm>
            <a:off x="5925312" y="409651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/smoother_server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60720" y="4498848"/>
            <a:ext cx="91440" cy="201168"/>
          </a:xfrm>
          <a:prstGeom prst="rect">
            <a:avLst/>
          </a:prstGeom>
          <a:solidFill>
            <a:srgbClr val="7AABCC"/>
          </a:solidFill>
          <a:ln/>
        </p:spPr>
      </p:sp>
      <p:sp>
        <p:nvSpPr>
          <p:cNvPr id="49" name="Text 47"/>
          <p:cNvSpPr/>
          <p:nvPr/>
        </p:nvSpPr>
        <p:spPr>
          <a:xfrm>
            <a:off x="5925312" y="444398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/lifecycle_manager_navigation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ABCC"/>
                </a:solidFill>
              </a:rPr>
              <a:t>Full Nav2 Jazzy stack  ·  Gazebo simulation bridge  ·  Custom nodes: /lidar_monitor  /patrol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CC"/>
                </a:solidFill>
              </a:rPr>
              <a:t>Five functional layers from sensor input to actuator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694944"/>
          </a:xfrm>
          <a:prstGeom prst="rect">
            <a:avLst/>
          </a:prstGeom>
          <a:solidFill>
            <a:srgbClr val="0D2A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694944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90B8"/>
                </a:solidFill>
              </a:rPr>
              <a:t>01  SENSOR INPUT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/ros_gz_bridge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9235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ABCC"/>
                </a:solidFill>
              </a:rPr>
              <a:t>Gazebo simulation bridge — translates gz-transport to ROS 2 topics for the full navigation 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9903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</a:rPr>
              <a:t>Publishes: /scan  /odom  /imu  /joint_states  /tf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1563624"/>
            <a:ext cx="457200" cy="91440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655064"/>
            <a:ext cx="8595360" cy="694944"/>
          </a:xfrm>
          <a:prstGeom prst="rect">
            <a:avLst/>
          </a:prstGeom>
          <a:solidFill>
            <a:srgbClr val="2A180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55064"/>
            <a:ext cx="64008" cy="69494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8C42"/>
                </a:solidFill>
              </a:rPr>
              <a:t>02  LOCALIZATION &amp; MAPPING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1929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/slam_toolbox  ·  /robot_state_publisher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7099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ABCC"/>
                </a:solidFill>
              </a:rPr>
              <a:t>SLAM builds the occupancy grid and maintains coordinate frame transforms consumed by costmaps and planners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1854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</a:rPr>
              <a:t>Publishes: /map  /pose  /tf (map→odom)  /robot_description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43400" y="2350008"/>
            <a:ext cx="457200" cy="9144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441448"/>
            <a:ext cx="8595360" cy="694944"/>
          </a:xfrm>
          <a:prstGeom prst="rect">
            <a:avLst/>
          </a:prstGeom>
          <a:solidFill>
            <a:srgbClr val="0A2A1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41448"/>
            <a:ext cx="64008" cy="69494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468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896"/>
                </a:solidFill>
              </a:rPr>
              <a:t>03  COSTMAP LAYERS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715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/global_costmap/global_costmap  ·  /local_costmap/local_costmap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24963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ABCC"/>
                </a:solidFill>
              </a:rPr>
              <a:t>Global costmap (static + obstacle layers) for path planning; Local costmap (voxel layer) for reactive control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</a:rPr>
              <a:t>Consumes: /map  /scan  /odom — Publishes: costmap  costmap_raw  published_footprint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43400" y="3136392"/>
            <a:ext cx="457200" cy="9144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227832"/>
            <a:ext cx="8595360" cy="694944"/>
          </a:xfrm>
          <a:prstGeom prst="rect">
            <a:avLst/>
          </a:prstGeom>
          <a:solidFill>
            <a:srgbClr val="1A0A2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227832"/>
            <a:ext cx="64008" cy="694944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55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B6DFF"/>
                </a:solidFill>
              </a:rPr>
              <a:t>04  PLANNING &amp; CONTROL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502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/planner_server  ·  /controller_server  ·  /smoother_server  ·  /route_server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328269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ABCC"/>
                </a:solidFill>
              </a:rPr>
              <a:t>Planner computes global paths; Controller executes them; Smoother refines; Route server provides graph-based routing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75818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</a:rPr>
              <a:t>/plan  /cmd_vel_nav  /plan_smoothed  /speed_limit  /route_graph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43400" y="3922776"/>
            <a:ext cx="457200" cy="9144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4014216"/>
            <a:ext cx="8595360" cy="694944"/>
          </a:xfrm>
          <a:prstGeom prst="rect">
            <a:avLst/>
          </a:prstGeom>
          <a:solidFill>
            <a:srgbClr val="2A0A1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014216"/>
            <a:ext cx="64008" cy="694944"/>
          </a:xfrm>
          <a:prstGeom prst="rect">
            <a:avLst/>
          </a:prstGeom>
          <a:solidFill>
            <a:srgbClr val="FF4B6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041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4B6E"/>
                </a:solidFill>
              </a:rPr>
              <a:t>05  SAFETY &amp; ACTUATOR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2885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/velocity_smoother  ·  /collision_monitor  ·  /ros_gz_bridge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40690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ABCC"/>
                </a:solidFill>
              </a:rPr>
              <a:t>Velocity smoother applies acceleration limits; Collision monitor enforces safety zones before final /cmd_vel output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54456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</a:rPr>
              <a:t>/cmd_vel_nav → /cmd_vel_smoothed → /cmd_vel → robot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Nav2 Core Servers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CC"/>
                </a:solidFill>
              </a:rPr>
              <a:t>The eight primary Nav2 lifecycle nodes and their responsibilities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05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/bt_navigator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9052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BCC"/>
                </a:solidFill>
              </a:rPr>
              <a:t>Mission Executive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8EEF8"/>
                </a:solidFill>
              </a:rPr>
              <a:t>Receives /goal_pose + /odom · Runs behavior trees via two rclcpp nodes (navigate_to_pose, navigate_through_poses) · Publishes navigate_to_pose and navigate_through_poses actions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20624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68680"/>
            <a:ext cx="64008" cy="84124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05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/planner_server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9052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BCC"/>
                </a:solidFill>
              </a:rPr>
              <a:t>Global Path Planner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8EEF8"/>
                </a:solidFill>
              </a:rPr>
              <a:t>Serves /compute_path_to_pose and /compute_path_through_poses actions · Publishes /plan (Path) · Consumes global costmap + map TF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847088"/>
            <a:ext cx="420624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847088"/>
            <a:ext cx="64008" cy="84124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883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/controller_server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8836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BCC"/>
                </a:solidFill>
              </a:rPr>
              <a:t>Local Path Follower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1671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8EEF8"/>
                </a:solidFill>
              </a:rPr>
              <a:t>Serves /follow_path action · Subscribes /odom + /speed_limit · Publishes /cmd_vel_nav  /local_plan  /transformed_global_plan  /evaluation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847088"/>
            <a:ext cx="420624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847088"/>
            <a:ext cx="64008" cy="841248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883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DFF"/>
                </a:solidFill>
              </a:rPr>
              <a:t>/behavior_server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18836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BCC"/>
                </a:solidFill>
              </a:rPr>
              <a:t>Recovery Behaviors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1671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8EEF8"/>
                </a:solidFill>
              </a:rPr>
              <a:t>Serves spin / backup / wait / drive_on_heading / assisted_teleop · Subscribes /cmd_vel_teleop · Publishes /cmd_vel_nav for recovery motions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825496"/>
            <a:ext cx="420624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25496"/>
            <a:ext cx="64008" cy="841248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862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0B8"/>
                </a:solidFill>
              </a:rPr>
              <a:t>/smoother_server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28620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BCC"/>
                </a:solidFill>
              </a:rPr>
              <a:t>Path Smoother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14553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8EEF8"/>
                </a:solidFill>
              </a:rPr>
              <a:t>Serves /smooth_path action · Consumes /global_costmap/costmap_raw + footprint · Publishes /plan_smoothed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825496"/>
            <a:ext cx="420624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25496"/>
            <a:ext cx="64008" cy="84124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862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/waypoint_follower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35240" y="28620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BCC"/>
                </a:solidFill>
              </a:rPr>
              <a:t>Waypoint Sequencer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14553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8EEF8"/>
                </a:solidFill>
              </a:rPr>
              <a:t>Serves /follow_waypoints and /follow_gps_waypoints actions · Orchestrates multi-goal missions via navigate_to_pose action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803904"/>
            <a:ext cx="420624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03904"/>
            <a:ext cx="64008" cy="841248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0B8"/>
                </a:solidFill>
              </a:rPr>
              <a:t>/route_server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BCC"/>
                </a:solidFill>
              </a:rPr>
              <a:t>Graph-Based Router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12394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8EEF8"/>
                </a:solidFill>
              </a:rPr>
              <a:t>Serves /compute_route and /compute_and_track_route · Publishes /plan  /route_graph  /speed_limit · Consumes global costmap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803904"/>
            <a:ext cx="420624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03904"/>
            <a:ext cx="64008" cy="841248"/>
          </a:xfrm>
          <a:prstGeom prst="rect">
            <a:avLst/>
          </a:prstGeom>
          <a:solidFill>
            <a:srgbClr val="7AABCC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BCC"/>
                </a:solidFill>
              </a:rPr>
              <a:t>/lifecycle_manager_navigation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3524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BCC"/>
                </a:solidFill>
              </a:rPr>
              <a:t>Lifecycle Coordinator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12394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8EEF8"/>
                </a:solidFill>
              </a:rPr>
              <a:t>Manages lifecycle transitions for all Nav2 servers · Publishes /bond (heartbeat) and /diagnostics · Orchestrates startup/shutdown order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All servers communicate lifecycle state via /bond topic and publish /transition_event on state changes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Sensor Input &amp; Hardware Bridge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CC"/>
                </a:solidFill>
              </a:rPr>
              <a:t>ROS-Gazebo bridge publishes all sensor data — consumed across the navigation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1005840"/>
          </a:xfrm>
          <a:prstGeom prst="rect">
            <a:avLst/>
          </a:prstGeom>
          <a:solidFill>
            <a:srgbClr val="1E30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960120"/>
            <a:ext cx="27432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04241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/ros_gz_bridge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481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ABCC"/>
                </a:solidFill>
              </a:rPr>
              <a:t>Gazebo ↔ ROS 2 Transport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4B6E"/>
                </a:solidFill>
              </a:rPr>
              <a:t>CONSUMES: /cmd_vel (Twist)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3931920" cy="71323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14600"/>
            <a:ext cx="64008" cy="7132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5511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/scan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56946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BCC"/>
                </a:solidFill>
              </a:rPr>
              <a:t>LaserScan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Consumers: slam_toolbox · global_costmap · local_costmap · collision_monitor · lidar_monitor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3931920" cy="71323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37560"/>
            <a:ext cx="64008" cy="7132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3741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/odom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39242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BCC"/>
                </a:solidFill>
              </a:rPr>
              <a:t>Odometry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Consumers: bt_navigator · controller_server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3931920" cy="71323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60520"/>
            <a:ext cx="64008" cy="7132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1970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/imu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42153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BCC"/>
                </a:solidFill>
              </a:rPr>
              <a:t>Imu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52628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Consumers: ros_gz_bridge only (published)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2514600"/>
            <a:ext cx="3931920" cy="71323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514600"/>
            <a:ext cx="64008" cy="7132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5511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/joint_states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256946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BCC"/>
                </a:solidFill>
              </a:rPr>
              <a:t>JointState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74920" y="288036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Consumers: robot_state_publisher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3337560"/>
            <a:ext cx="3931920" cy="71323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337560"/>
            <a:ext cx="64008" cy="7132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33741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/tf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39242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BCC"/>
                </a:solidFill>
              </a:rPr>
              <a:t>TFMessage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370332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Consumers: smoother_server · bt_navigator · behavior_server · collision_monitor · docking_server · route_server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0" y="2103120"/>
            <a:ext cx="2743200" cy="347472"/>
          </a:xfrm>
          <a:prstGeom prst="rect">
            <a:avLst/>
          </a:prstGeom>
          <a:solidFill>
            <a:srgbClr val="0D1C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103120"/>
            <a:ext cx="64008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7" name="Text 35"/>
          <p:cNvSpPr/>
          <p:nvPr/>
        </p:nvSpPr>
        <p:spPr>
          <a:xfrm>
            <a:off x="333756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/robot_state_publisher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/scan is the most consumed topic in the system — feeds 5 subscribers simultaneously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Velocity Command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CC"/>
                </a:solidFill>
              </a:rPr>
              <a:t>How navigation commands flow from planners to the robot drive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960120"/>
            <a:ext cx="6400800" cy="8229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960120"/>
            <a:ext cx="64008" cy="8229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43000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0149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/controller_server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149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→  publishes  /cmd_vel_nav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344168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DWB/MPPI planner executes path following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Also: /behavior_server publishes /cmd_vel_nav for recovery behaviors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0" cy="155448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938528"/>
            <a:ext cx="6400800" cy="8229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1938528"/>
            <a:ext cx="64008" cy="8229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121408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1993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/velocity_smoother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9933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→  publishes  /cmd_vel_smoothed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2322576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Applies acceleration and deceleration limits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Subscribes /cmd_vel_nav · Publishes /cmd_vel_smoothed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761488"/>
            <a:ext cx="0" cy="155448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2916936"/>
            <a:ext cx="6400800" cy="8229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2916936"/>
            <a:ext cx="64008" cy="822960"/>
          </a:xfrm>
          <a:prstGeom prst="rect">
            <a:avLst/>
          </a:prstGeom>
          <a:solidFill>
            <a:srgbClr val="FF4B6E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099816"/>
            <a:ext cx="457200" cy="457200"/>
          </a:xfrm>
          <a:prstGeom prst="ellipse">
            <a:avLst/>
          </a:prstGeom>
          <a:solidFill>
            <a:srgbClr val="FF4B6E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2971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6E"/>
                </a:solidFill>
              </a:rPr>
              <a:t>/collision_monitor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2971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→  publishes  /cmd_vel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3300984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Final safety gate — checks /scan + /local_costmap/published_footprint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Subscribes /cmd_vel_smoothed · Publishes /cmd_vel (the actuator command)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739896"/>
            <a:ext cx="0" cy="155448"/>
          </a:xfrm>
          <a:prstGeom prst="line">
            <a:avLst/>
          </a:prstGeom>
          <a:noFill/>
          <a:ln w="25400">
            <a:solidFill>
              <a:srgbClr val="FF4B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3895344"/>
            <a:ext cx="6400800" cy="8229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0" y="3895344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4078224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08760" y="39502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/ros_gz_bridge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3950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→  publishes  → Robot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08760" y="4279392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Receives /cmd_vel and forwards to Gazebo diff-drive plugin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In Phase 5: sends directly to TurtleBot3 hardware over WiFi DDS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681728"/>
            <a:ext cx="8595360" cy="128016"/>
          </a:xfrm>
          <a:prstGeom prst="rect">
            <a:avLst/>
          </a:prstGeom>
          <a:solidFill>
            <a:srgbClr val="1A0A10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690872"/>
            <a:ext cx="85039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4B6E"/>
                </a:solidFill>
              </a:rPr>
              <a:t>BYPASS: /docking_server also publishes /cmd_vel directly (bypasses velocity smoother during dock/undock maneuvers)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Two sources of /cmd_vel_nav: controller_server (normal navigation) and behavior_server (recovery)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Costmap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CC"/>
                </a:solidFill>
              </a:rPr>
              <a:t>Global and local costmaps — both publish 15+ internal diagnostic topics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520440"/>
          </a:xfrm>
          <a:prstGeom prst="rect">
            <a:avLst/>
          </a:prstGeom>
          <a:solidFill>
            <a:srgbClr val="091E3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/global_costmap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Subscribes: /map (OccupancyGrid)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81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Subscribes: /scan (obstacle detection)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Subscribes: /global_costmap/footprint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BCC"/>
                </a:solidFill>
              </a:rPr>
              <a:t>Layers: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3200400" cy="27432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377440"/>
            <a:ext cx="54864" cy="274320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static_layer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3200400" cy="27432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2724912"/>
            <a:ext cx="54864" cy="274320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obstacle_layer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BCC"/>
                </a:solidFill>
              </a:rPr>
              <a:t>Consumers: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/smoother_server  (costmap_raw)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66674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/route_server  (costmap_raw)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04164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BCC"/>
                </a:solidFill>
              </a:rPr>
              <a:t>Key outputs: costmap · costmap_raw · published_footprint · static_layer · obstacle_layer (+ raw/updates variants)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868680"/>
            <a:ext cx="4023360" cy="3520440"/>
          </a:xfrm>
          <a:prstGeom prst="rect">
            <a:avLst/>
          </a:prstGeom>
          <a:solidFill>
            <a:srgbClr val="091E0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868680"/>
            <a:ext cx="4023360" cy="38404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/local_costmap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83480" y="13258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Subscribes: /scan (LaserScan)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15819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Subscribes: /local_costmap/footprint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19202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BCC"/>
                </a:solidFill>
              </a:rPr>
              <a:t>Layers: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2194560"/>
            <a:ext cx="3200400" cy="27432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2194560"/>
            <a:ext cx="54864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5093208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EF8"/>
                </a:solidFill>
              </a:rPr>
              <a:t>voxel_layer (3D obstacle)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6334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BCC"/>
                </a:solidFill>
              </a:rPr>
              <a:t>Consumers: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92608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/behavior_server  (costmap_raw)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316382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/docking_server  (costmap_raw)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340156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/collision_monitor  (published_footprint)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365760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ABCC"/>
                </a:solidFill>
              </a:rPr>
              <a:t>Unique: voxel_grid + clearing_endpoints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ABCC"/>
                </a:solidFill>
              </a:rPr>
              <a:t>Key outputs: costmap · costmap_raw · published_footprint · voxel_layer (+ raw/updates variants)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Local costmap uses voxel_layer (3D) vs global's obstacle_layer (2D) — local_costmap feeds behavior/docking/collision nodes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Custom &amp; Auxiliary Nodes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CC"/>
                </a:solidFill>
              </a:rPr>
              <a:t>Project-specific nodes extending the standard Nav2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18288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/lidar_monitor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Custom LiDAR safety node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Subscribes:  /scan (LaserScan, reliable QoS)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892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Publishes:   /closest_obstacle (Float32, 5 Hz)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85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ABCC"/>
                </a:solidFill>
              </a:rPr>
              <a:t>Function: Extracts minimum obstacle distance from LiDAR scan — provides lightweight safety metric without full costmap overhead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868680"/>
            <a:ext cx="4023360" cy="18288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868680"/>
            <a:ext cx="4023360" cy="38404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/patrol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316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Autonomous waypoint patrol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Subscribes:  /navigate_to_pose/_action/status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1874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Subscribes:  /navigate_to_pose/_action/feedback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EF8"/>
                </a:solidFill>
              </a:rPr>
              <a:t>Subscribes:  /estop (Bool, RELIABLE+TRANSIENT_LOCAL)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ABCC"/>
                </a:solidFill>
              </a:rPr>
              <a:t>Function: Nav2 action client cycling hardcoded map-frame waypoints — cancels goal on e-stop signal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178308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8595360" cy="384048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346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/docking_server  — Full Nav2 Docking Stack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291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</a:rPr>
              <a:t>Subscribes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/detected_dock_pose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/navigate_to_pose/_action/status + feedback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/local_costmap/costmap_raw + footprint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3291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</a:rPr>
              <a:t>Publishes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/cmd_vel (direct actuator bypass)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/dock_pose  /filtered_dock_pose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/staging_pose  /docking_trajectory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3291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</a:rPr>
              <a:t>Action Servers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/dock_robot (_action/status + feedback)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/undock_robot (_action/status + feedback)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EF8"/>
                </a:solidFill>
              </a:rPr>
              <a:t>Also: /docking_server/transition_event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CC"/>
                </a:solidFill>
              </a:rPr>
              <a:t>/docking_server publishes /cmd_vel directly — bypassing velocity_smoother for precise dock alignment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Action Server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CC"/>
                </a:solidFill>
              </a:rPr>
              <a:t>All ROS 2 actions active in this graph — organized by server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92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/bt_navigator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/navigate_to_pose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/navigate_through_poses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64008" cy="84124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692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/planner_server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4358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/compute_path_to_pose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148132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/compute_path_through_poses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160520" cy="603504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48840"/>
            <a:ext cx="64008" cy="60350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203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/controller_server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47802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/follow_path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48840"/>
            <a:ext cx="4160520" cy="155448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48840"/>
            <a:ext cx="64008" cy="155448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203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DFF"/>
                </a:solidFill>
              </a:rPr>
              <a:t>/behavior_server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47802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/spin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71576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/backup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95351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/wait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19125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/drive_on_heading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4290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/assisted_teleop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383280"/>
            <a:ext cx="4160520" cy="603504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383280"/>
            <a:ext cx="64008" cy="603504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4381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0B8"/>
                </a:solidFill>
              </a:rPr>
              <a:t>/smoother_server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71246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/smooth_path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416052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383280"/>
            <a:ext cx="64008" cy="84124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4381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/waypoint_follower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1246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/follow_waypoints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95020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/follow_gps_waypoints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343400"/>
            <a:ext cx="416052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343400"/>
            <a:ext cx="64008" cy="841248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3982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0B8"/>
                </a:solidFill>
              </a:rPr>
              <a:t>/route_server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467258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/compute_route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491032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/compute_and_track_route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343400"/>
            <a:ext cx="4160520" cy="841248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343400"/>
            <a:ext cx="64008" cy="841248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43982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DFF"/>
                </a:solidFill>
              </a:rPr>
              <a:t>/docking_server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467258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/dock_robot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46320" y="491032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8"/>
                </a:solidFill>
              </a:rPr>
              <a:t>/undock_robot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Graph Analysis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CC"/>
                </a:solidFill>
              </a:rPr>
              <a:t>Key observations from the rqt_graph / rosgraph.dot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12471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09728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Full Nav2 Jazzy Stack Active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ABCC"/>
                </a:solidFill>
              </a:rPr>
              <a:t>All standard Nav2 servers are running: bt_navigator, planner_server, controller_server, behavior_server, smoother_server, route_server, waypoint_follower, docking_server — plus lifecycle_manager_navigation.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12471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4206240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097280"/>
            <a:ext cx="384048" cy="38404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76088" y="109728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Layered Velocity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52704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ABCC"/>
                </a:solidFill>
              </a:rPr>
              <a:t>cmd_vel_nav → velocity_smoother → cmd_vel_smoothed → collision_monitor → cmd_vel → ros_gz_bridge. Docking server bypasses smoother for precise dock alignment.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4206240" cy="112471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21992"/>
            <a:ext cx="4206240" cy="64008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359152"/>
            <a:ext cx="384048" cy="384048"/>
          </a:xfrm>
          <a:prstGeom prst="ellipse">
            <a:avLst/>
          </a:prstGeom>
          <a:solidFill>
            <a:srgbClr val="0090B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35915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0B8"/>
                </a:solidFill>
              </a:rPr>
              <a:t>Route Server Present (Nav2 Extras)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78892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ABCC"/>
                </a:solidFill>
              </a:rPr>
              <a:t>The /route_server indicates a graph-based routing capability beyond basic A* planning — supports /compute_route and /compute_and_track_route for structured environments.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221992"/>
            <a:ext cx="4206240" cy="112471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21992"/>
            <a:ext cx="4206240" cy="6400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2359152"/>
            <a:ext cx="384048" cy="384048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76088" y="235915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Custom Nodes Integrated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78892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ABCC"/>
                </a:solidFill>
              </a:rPr>
              <a:t>/lidar_monitor (closest_obstacle at 5 Hz) and /patrol (autonomous waypoint cycling with e-stop) are project-specific nodes woven into the Nav2 action framework.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483864"/>
            <a:ext cx="4206240" cy="112471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483864"/>
            <a:ext cx="4206240" cy="64008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3621024"/>
            <a:ext cx="384048" cy="384048"/>
          </a:xfrm>
          <a:prstGeom prst="ellipse">
            <a:avLst/>
          </a:prstGeom>
          <a:solidFill>
            <a:srgbClr val="9B6D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362102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DFF"/>
                </a:solidFill>
              </a:rPr>
              <a:t>BT Navigator Split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05079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ABCC"/>
                </a:solidFill>
              </a:rPr>
              <a:t>bt_navigator spawns two separate rclcpp nodes: bt_navigator_navigate_to_pose_rclcpp_node and bt_navigator_navigate_through_poses_rclcpp_node — each independently subscribing to all relevant action feedback topics.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3483864"/>
            <a:ext cx="4206240" cy="112471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483864"/>
            <a:ext cx="420624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3621024"/>
            <a:ext cx="384048" cy="38404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76088" y="362102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/bond Heartbeat Pattern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405079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ABCC"/>
                </a:solidFill>
              </a:rPr>
              <a:t>All lifecycle nodes publish /bond (heartbeat) and subscribe to it — lifecycle_manager_navigation monitors all bonds to detect node failures and trigger managed recovery.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90B8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22 active nodes  ·  37+ topics  ·  14 action servers  ·  Full Nav2 Jazzy + custom patrol/monitor nodes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 2 Nav2 Graph Analysis</dc:title>
  <dc:subject>PptxGenJS Presentation</dc:subject>
  <dc:creator>PptxGenJS</dc:creator>
  <cp:lastModifiedBy>PptxGenJS</cp:lastModifiedBy>
  <cp:revision>1</cp:revision>
  <dcterms:created xsi:type="dcterms:W3CDTF">2026-03-13T03:07:04Z</dcterms:created>
  <dcterms:modified xsi:type="dcterms:W3CDTF">2026-03-13T03:07:04Z</dcterms:modified>
</cp:coreProperties>
</file>