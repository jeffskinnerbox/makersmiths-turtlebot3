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457200"/>
            <a:ext cx="2560320" cy="420624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0" y="11887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🤖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21792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8D0"/>
                </a:solidFill>
              </a:rPr>
              <a:t>TurtleBot3 Burger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Phase 5: Hardware Deployment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· Gazebo Harmonic · Docker · Nav2 · SLAM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88720" cy="100584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11887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Containers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3200400"/>
            <a:ext cx="1188720" cy="100584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83080" y="3200400"/>
            <a:ext cx="11887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178308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8308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Subsystems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3200400"/>
            <a:ext cx="1188720" cy="100584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0" y="3200400"/>
            <a:ext cx="11887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10896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ROS Topics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3200400"/>
            <a:ext cx="1188720" cy="100584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3200400"/>
            <a:ext cx="11887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43484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Launch Files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8D0"/>
                </a:solidFill>
              </a:rPr>
              <a:t>Simulation-first · Docker-isolated · Hardware-ready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Two Docker containers — simulation on host, hardware on RPi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03520" cy="393192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30352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turtlebot3_simulator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8D0"/>
                </a:solidFill>
              </a:rPr>
              <a:t>osrf/ros:jazzy-desktop-full  ·  network_mode: host  ·  Fast-DDS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2468880" cy="868680"/>
          </a:xfrm>
          <a:prstGeom prst="rect">
            <a:avLst/>
          </a:prstGeom>
          <a:solidFill>
            <a:srgbClr val="2B1F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91640"/>
            <a:ext cx="54864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7465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Gazebo Harmonic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1122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Physics + sensors + GUI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1691640"/>
            <a:ext cx="2468880" cy="868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1800" y="1691640"/>
            <a:ext cx="54864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081528" y="17465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🔗  ROS ↔ Gazebo Bridge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81528" y="21122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ros_gz_bridge + robot_state_publisher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15768"/>
            <a:ext cx="2468880" cy="8686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15768"/>
            <a:ext cx="54864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7706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tb3_bringup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13639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7 launch file orchestrations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71800" y="2715768"/>
            <a:ext cx="2468880" cy="868680"/>
          </a:xfrm>
          <a:prstGeom prst="rect">
            <a:avLst/>
          </a:prstGeom>
          <a:solidFill>
            <a:srgbClr val="1A3D2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71800" y="2715768"/>
            <a:ext cx="54864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081528" y="27706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 tb3_monitor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81528" y="313639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lidar_monitor · health_monitor · mock_battery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39896"/>
            <a:ext cx="2468880" cy="868680"/>
          </a:xfrm>
          <a:prstGeom prst="rect">
            <a:avLst/>
          </a:prstGeom>
          <a:solidFill>
            <a:srgbClr val="3D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39896"/>
            <a:ext cx="54864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794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🎮  tb3_controller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4160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Gamepad · wanderer · patrol · keyboard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71800" y="3739896"/>
            <a:ext cx="2468880" cy="868680"/>
          </a:xfrm>
          <a:prstGeom prst="rect">
            <a:avLst/>
          </a:prstGeom>
          <a:solidFill>
            <a:srgbClr val="3D2F1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71800" y="3739896"/>
            <a:ext cx="54864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3081528" y="3794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🗺️  Autonomous Stack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81528" y="4160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slam_toolbox + Nav2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960120"/>
            <a:ext cx="3017520" cy="210312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06440" y="960120"/>
            <a:ext cx="3017520" cy="34747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</a:rPr>
              <a:t>turtlebot3_robot  [Phase 5]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1371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robotis/turtlebot3:jazzy-sbc-latest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RPi 4 (arm64) · WiFi DDS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5216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🤖  TurtleBot3 Burger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      Hardware + OpenCR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2011680"/>
            <a:ext cx="-2286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824728" y="3200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</a:rPr>
              <a:t>WiFi · Fast-DDS (Phase 5)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06440" y="3429000"/>
            <a:ext cx="3017520" cy="109728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06440" y="3429000"/>
            <a:ext cx="3017520" cy="3200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2" name="Text 40"/>
          <p:cNvSpPr/>
          <p:nvPr/>
        </p:nvSpPr>
        <p:spPr>
          <a:xfrm>
            <a:off x="585216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B8D0"/>
                </a:solidFill>
              </a:rPr>
              <a:t>Host Machine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52160" y="3794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B8D0"/>
                </a:solidFill>
              </a:rPr>
              <a:t>Ubuntu 24.04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B8D0"/>
                </a:solidFill>
              </a:rPr>
              <a:t>F310 Gamepad @ /dev/input/js0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All simulation runs in Docker with network_mode: host for low-latency DDS communication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Gazebo Harmonic + ROS Bridge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Physics simulation ↔ ROS 2 topic translation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2286000"/>
          </a:xfrm>
          <a:prstGeom prst="rect">
            <a:avLst/>
          </a:prstGeom>
          <a:solidFill>
            <a:srgbClr val="2B1F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solidFill>
            <a:srgbClr val="6B4FC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Gazebo Harmonic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3749040" cy="685800"/>
          </a:xfrm>
          <a:prstGeom prst="rect">
            <a:avLst/>
          </a:prstGeom>
          <a:solidFill>
            <a:srgbClr val="1E1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53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gz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Physics engine + sensor simulation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Publishes: /scan /odom /imu /tf via gz-transport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3749040" cy="685800"/>
          </a:xfrm>
          <a:prstGeom prst="rect">
            <a:avLst/>
          </a:prstGeom>
          <a:solidFill>
            <a:srgbClr val="1E1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76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gz GUI client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51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Graphical viewport renderer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Skipped when headless:=true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2103120"/>
            <a:ext cx="640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7830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B8D0"/>
                </a:solidFill>
              </a:rPr>
              <a:t>gz-transport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BB8D0"/>
                </a:solidFill>
              </a:rPr>
              <a:t>(loopback)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0" y="960120"/>
            <a:ext cx="3931920" cy="2286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960120"/>
            <a:ext cx="393192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🔗  Bridge Layer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65760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1453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ros_gz_bridge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17282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Bidirectional topic bridge (bridge_params.yaml)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7 topic mappings incl. /cmd_vel as Twist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74920" y="2240280"/>
            <a:ext cx="365760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276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robot_state_publisher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551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URDF → /tf_static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Publishes TurtleBot3 link tree static frames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8595360" cy="132588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ROS Topics Bridged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767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/scan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005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Gz→ROS  ·  LaserScan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wanderer, lidar_monitor, SLAM, Nav2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14600" y="3767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/cmd_vel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4005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ROS→Gz  ·  Twist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1460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gamepad_manager, wanderer, Nav2, keyboard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3767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/odom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005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Gz→ROS  ·  Odometry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scan_action_server, Nav2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12280" y="3767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/imu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4005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Gz→ROS  ·  Imu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health_monitor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bridge_params.yaml defines all topic mappings — /cmd_vel uses geometry_msgs/Twist (not TwistStamped)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tb3_controller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Input handling, e-stop gating, and autonomous motion commands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508760"/>
          </a:xfrm>
          <a:prstGeom prst="rect">
            <a:avLst/>
          </a:prstGeom>
          <a:solidFill>
            <a:srgbClr val="3D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solidFill>
            <a:srgbClr val="7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🎮  Gamepad Chain (F310)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53312"/>
            <a:ext cx="256032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353312"/>
            <a:ext cx="54864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3898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joy_node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71907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/dev/input → /joy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@ 20 Hz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90088" y="1847088"/>
            <a:ext cx="19202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53312"/>
            <a:ext cx="256032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53312"/>
            <a:ext cx="54864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3898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teleop_twist_joy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71907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/joy → /cmd_vel_raw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RB=deadman, LB=turbo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79008" y="1847088"/>
            <a:ext cx="19202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353312"/>
            <a:ext cx="256032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353312"/>
            <a:ext cx="54864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48" y="138988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gamepad_manager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9048" y="171907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/cmd_vel_raw → /cmd_vel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B=stop A=clear Y=shutdown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481328"/>
            <a:ext cx="2423160" cy="292608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14813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/estop  RELIABLE+TRANSIENT_LOCAL  →  wanderer, patrol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606040"/>
            <a:ext cx="4206240" cy="1051560"/>
          </a:xfrm>
          <a:prstGeom prst="rect">
            <a:avLst/>
          </a:prstGeom>
          <a:solidFill>
            <a:srgbClr val="3D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60604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6609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wanderer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" y="300837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Reactive obstacle avoidance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/scan + /estop → /cmd_vel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forward / turn / stop state machine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606040"/>
            <a:ext cx="4206240" cy="1051560"/>
          </a:xfrm>
          <a:prstGeom prst="rect">
            <a:avLst/>
          </a:prstGeom>
          <a:solidFill>
            <a:srgbClr val="3D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60604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6609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📍  patrol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18888" y="300837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Nav2 waypoint client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Cycles hardcoded map-frame waypoints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Cancels on /estop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794760"/>
            <a:ext cx="4206240" cy="105156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9476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38496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🔭  scan_action_server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" y="419709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360° rotation action server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/tb3_scan_360 using odom feedback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Available for future use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794760"/>
            <a:ext cx="4206240" cy="105156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79476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4818888" y="38496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⌨️  teleop_twist_keyboard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18888" y="419709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Keyboard teleoperation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→ /cmd_vel (requires TTY)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B8D0"/>
                </a:solidFill>
              </a:rPr>
              <a:t>Direct bypass of e-stop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E-stop uses RELIABLE + TRANSIENT_LOCAL QoS — new subscribers receive the last latched value on connect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tb3_monitor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Telemetry, health reporting, and safety sensing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645920"/>
          </a:xfrm>
          <a:prstGeom prst="rect">
            <a:avLst/>
          </a:prstGeom>
          <a:solidFill>
            <a:srgbClr val="1A3D2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384048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📡  lidar_monitor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Input: /scan (LaserScan)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Output: /closest_obstacle (Float32)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Rate: 5 Hz — minimum distance extraction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1645920"/>
          </a:xfrm>
          <a:prstGeom prst="rect">
            <a:avLst/>
          </a:prstGeom>
          <a:solidFill>
            <a:srgbClr val="1A3D2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206240" cy="384048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❤️  health_monitor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1463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Input: /battery_state + /imu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Logs: voltage, charge %, IMU orientation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Passive observer — no output topics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206240" cy="1645920"/>
          </a:xfrm>
          <a:prstGeom prst="rect">
            <a:avLst/>
          </a:prstGeom>
          <a:solidFill>
            <a:srgbClr val="1A3D2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4206240" cy="384048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🔋  mock_battery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" y="3291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Output: /battery_state @ 1 Hz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Simulates BatteryState message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For testing without real hardware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206240" cy="164592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34640"/>
            <a:ext cx="4206240" cy="38404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tf2_verifier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3291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Debug utility only — not production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Verifies map→base_link TF chain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0F0FF"/>
                </a:solidFill>
              </a:rPr>
              <a:t>Checks freshness + completeness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626864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/scan  →  lidar_monitor  →  /closest_obstacle  →  health_monitor  |  mock_battery  →  /battery_state  →  health_monitor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lidar_monitor runs at 5 Hz to reduce CPU load while still detecting obstacles in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Autonomous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SLAM mapping + Nav2 navigation — work together to enable full autonomous operation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2926080"/>
          </a:xfrm>
          <a:prstGeom prst="rect">
            <a:avLst/>
          </a:prstGeom>
          <a:solidFill>
            <a:srgbClr val="3D2F1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🗺️  slam_toolbox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Mode: online_async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Input: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755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/scan (LaserScan)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Output: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075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/map (OccupancyGrid)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95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TF: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3957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map → odom transform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15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Resolution: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715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0.05 m/cell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Max Range: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3035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3.5 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355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Solver: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355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Ceres (loop closure 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4023360" cy="2926080"/>
          </a:xfrm>
          <a:prstGeom prst="rect">
            <a:avLst/>
          </a:prstGeom>
          <a:solidFill>
            <a:srgbClr val="3D2F1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960120"/>
            <a:ext cx="4023360" cy="38404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🧭  Nav2 Stack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bt_navigator + DWB local planner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755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Input: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/map + map→odom TF from SLAM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075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Action: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075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/navigate_to_pose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395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Output: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3957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/cmd_vel (Twist)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Robot radius: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2715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0.105 m (TB3 Burger)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Max vel: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035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0.22 m/s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355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8D0"/>
                </a:solidFill>
              </a:rPr>
              <a:t>Planner: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3355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0FF"/>
                </a:solidFill>
              </a:rPr>
              <a:t>DWB local planner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2423160"/>
            <a:ext cx="5486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9392" y="2103120"/>
            <a:ext cx="576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B8D0"/>
                </a:solidFill>
              </a:rPr>
              <a:t>/map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BB8D0"/>
                </a:solidFill>
              </a:rPr>
              <a:t>+TF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005072"/>
            <a:ext cx="8595360" cy="713232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005072"/>
            <a:ext cx="8595360" cy="29260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0050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Configuration Files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325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slam_params.yaml  —  0.05m resolution · 3.5m max range · Ceres solver · loop closure enabled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325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0"/>
                </a:solidFill>
              </a:rPr>
              <a:t>nav2_params.yaml  —  robot_radius=0.105m · max_vel_x=0.22m/s · DWB local planner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Nav2 requires SLAM to be running first — map→odom TF must be publishing before bt_navigator starts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Launch File Orchestration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tb3_bringup — 7 composable launch files for different operating modes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96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sim_bringup.launch.py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2527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Foundation: Gazebo world + bridge + RSP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4721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gz server, ros_gz_bridge, robot_state_publisher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996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sim_house.launch.py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2527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Same as sim_bringup, indoor world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18888" y="14721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gz server, ros_gz_bridge, robot_state_publisher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2024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9568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gamepad.launch.py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22128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F310 gamepad teleoperation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432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joy_node, teleop_twist_joy, gamepad_manager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92024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92024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19568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teleop.launch.py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18888" y="22128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Keyboard driving (requires TTY)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18888" y="2432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teleop_twist_keyboard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8036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9169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wanderer.launch.py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31729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Reactive obstacle avoidance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33924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lidar_monitor, wanderer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88036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8036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29169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slam.launch.py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18888" y="31729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Mapping only, no Nav2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18888" y="33924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slam_toolbox (online_async)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4048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8770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nav2.launch.py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41330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Full navigation (needs SLAM running)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4048" y="43525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Nav2 stack (bt_navigator + DWB)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840480"/>
            <a:ext cx="42062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40480"/>
            <a:ext cx="54864" cy="82296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38770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capability_demo.launch.py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18888" y="41330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Full M3 demo stack, mode selectable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18888" y="43525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0"/>
                </a:solidFill>
              </a:rPr>
              <a:t>Starts: SLAM + Nav2 + lidar_monitor + patrol|wanderer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capability_demo.launch.py is the one-shot command for full autonomous demos — use mode:=patrol or mode:=wanderer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ROS Topics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The communication backbone connecting all subsystems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/scan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9966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Gz→ROS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3441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LaserScan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5636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LiDAR point cloud — consumed by wanderer, lidar_monitor, slam_toolbox, Nav2 costmap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788920" cy="347472"/>
          </a:xfrm>
          <a:prstGeom prst="rect">
            <a:avLst/>
          </a:prstGeom>
          <a:solidFill>
            <a:srgbClr val="7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/cmd_vel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9966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ROS→Gz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73552" y="13441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Twist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73552" y="15636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Drive commands — produced by gamepad_manager, wanderer, Nav2, or keyboard teleoperation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60120"/>
            <a:ext cx="2788920" cy="3474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/cmd_vel_raw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9966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internal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99632" y="13441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Twist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99632" y="15636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Pre-e-stop gamepad velocity from teleop_twist_joy, gated by gamepad_manager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24028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240280"/>
            <a:ext cx="2788920" cy="347472"/>
          </a:xfrm>
          <a:prstGeom prst="rect">
            <a:avLst/>
          </a:prstGeom>
          <a:solidFill>
            <a:srgbClr val="1A4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2240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/joy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22768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HW→ROS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" y="26243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Joy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" y="284378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Raw F310 gamepad state from joy_node — consumed by teleop_twist_joy and gamepad_manager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224028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240280"/>
            <a:ext cx="2788920" cy="3474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3273552" y="2240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/estop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22768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internal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73552" y="26243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Bool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73552" y="284378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E-stop signal with RELIABLE+TRANSIENT_LOCAL QoS — latched, consumed by wanderer and patrol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24028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240280"/>
            <a:ext cx="2788920" cy="3474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2240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/map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22768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internal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9632" y="26243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OccupancyGrid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9632" y="284378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SLAM-generated occupancy map — published by slam_toolbox, consumed by Nav2 global costmap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52044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520440"/>
            <a:ext cx="278892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/odom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331720" y="355701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Gz→ROS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7472" y="39044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Odometry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" y="41239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Gazebo DiffDrive odometry — consumed by scan_action_server and Nav2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0" y="352044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0" y="3520440"/>
            <a:ext cx="2788920" cy="3474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9" name="Text 47"/>
          <p:cNvSpPr/>
          <p:nvPr/>
        </p:nvSpPr>
        <p:spPr>
          <a:xfrm>
            <a:off x="3273552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/battery_state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355701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sim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73552" y="39044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BatteryState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73552" y="41239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Mock battery telemetry — published by mock_battery at 1 Hz, consumed by health_monitor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26480" y="3520440"/>
            <a:ext cx="2788920" cy="11430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26480" y="3520440"/>
            <a:ext cx="2788920" cy="3474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5" name="Text 53"/>
          <p:cNvSpPr/>
          <p:nvPr/>
        </p:nvSpPr>
        <p:spPr>
          <a:xfrm>
            <a:off x="6199632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/closest_obstacle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83880" y="355701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DDDDD"/>
                </a:solidFill>
              </a:rPr>
              <a:t>internal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99632" y="39044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Float32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99632" y="41239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B8D0"/>
                </a:solidFill>
              </a:rPr>
              <a:t>Minimum LiDAR distance at 5 Hz from lidar_monitor — consumed by health_monitor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</a:rPr>
              <a:t>All topics flow through the ros_gz_bridge — /cmd_vel is the single actuator command topic bridged to Gazebo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B8D0"/>
                </a:solidFill>
              </a:rPr>
              <a:t>Simulation-first, hardware-ready, modular by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6002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52144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52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Docker Isolated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B8D0"/>
                </a:solidFill>
              </a:rPr>
              <a:t>Two containers cleanly separate simulation from hardware. The same ROS 2 nodes run on RPi 4 in Phase 5 with no code changes.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88920" cy="16002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88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152144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52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11430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Bridge Pattern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6642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B8D0"/>
                </a:solidFill>
              </a:rPr>
              <a:t>ros_gz_bridge decouples ROS from Gazebo internals. Topic mappings in bridge_params.yaml are the single source of truth.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88920" cy="16002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2788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152144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152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11430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E-Stop Safety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6642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B8D0"/>
                </a:solidFill>
              </a:rPr>
              <a:t>RELIABLE + TRANSIENT_LOCAL QoS means every node joining late still receives the last e-stop state — no race conditions.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788920" cy="16002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34640"/>
            <a:ext cx="2788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980944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29718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SLAM + Nav2 Pipeline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4930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B8D0"/>
                </a:solidFill>
              </a:rPr>
              <a:t>slam_toolbox publishes the map and map-&gt;odom TF that Nav2 depends on. Launch order is enforced via launch file dependencies.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834640"/>
            <a:ext cx="2788920" cy="16002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834640"/>
            <a:ext cx="2788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2980944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29718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Composable Launches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34930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B8D0"/>
                </a:solidFill>
              </a:rPr>
              <a:t>7 independent launch files can be combined or run standalone. capability_demo.launch.py is the single full-stack entry point.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2834640"/>
            <a:ext cx="2788920" cy="1600200"/>
          </a:xfrm>
          <a:prstGeom prst="rect">
            <a:avLst/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834640"/>
            <a:ext cx="2788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0" y="2980944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0840" y="29718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Simulation Fidelity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34930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B8D0"/>
                </a:solidFill>
              </a:rPr>
              <a:t>Gazebo Harmonic provides physics-accurate LiDAR, odometry, and IMU — making sim-to-real transfer straightforward.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5: Connect turtlebot3_robot container via WiFi DDS — all ROS nodes remain unchanged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TurtleBot3 Architecture</dc:title>
  <dc:subject>PptxGenJS Presentation</dc:subject>
  <dc:creator>PptxGenJS</dc:creator>
  <cp:lastModifiedBy>PptxGenJS</cp:lastModifiedBy>
  <cp:revision>1</cp:revision>
  <dcterms:created xsi:type="dcterms:W3CDTF">2026-03-12T21:05:11Z</dcterms:created>
  <dcterms:modified xsi:type="dcterms:W3CDTF">2026-03-12T21:05:11Z</dcterms:modified>
</cp:coreProperties>
</file>